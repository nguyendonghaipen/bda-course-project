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256" r:id="rId2"/>
    <p:sldId id="258" r:id="rId3"/>
    <p:sldId id="260" r:id="rId4"/>
    <p:sldId id="261" r:id="rId5"/>
    <p:sldId id="296" r:id="rId6"/>
    <p:sldId id="262" r:id="rId7"/>
    <p:sldId id="297" r:id="rId8"/>
    <p:sldId id="263" r:id="rId9"/>
    <p:sldId id="298" r:id="rId10"/>
    <p:sldId id="299" r:id="rId11"/>
    <p:sldId id="302" r:id="rId12"/>
    <p:sldId id="303" r:id="rId13"/>
    <p:sldId id="304" r:id="rId14"/>
    <p:sldId id="305" r:id="rId15"/>
    <p:sldId id="301" r:id="rId16"/>
    <p:sldId id="275" r:id="rId17"/>
  </p:sldIdLst>
  <p:sldSz cx="9144000" cy="5143500" type="screen16x9"/>
  <p:notesSz cx="6858000" cy="9144000"/>
  <p:embeddedFontLst>
    <p:embeddedFont>
      <p:font typeface="Anaheim" panose="020B0604020202020204" charset="-93"/>
      <p:regular r:id="rId19"/>
      <p:bold r:id="rId20"/>
    </p:embeddedFont>
    <p:embeddedFont>
      <p:font typeface="Libre Franklin" pitchFamily="2" charset="-93"/>
      <p:regular r:id="rId21"/>
      <p:bold r:id="rId22"/>
      <p:italic r:id="rId23"/>
      <p:boldItalic r:id="rId24"/>
    </p:embeddedFont>
    <p:embeddedFont>
      <p:font typeface="Raleway" pitchFamily="2" charset="-93"/>
      <p:regular r:id="rId25"/>
      <p:bold r:id="rId26"/>
      <p:italic r:id="rId27"/>
      <p:boldItalic r:id="rId28"/>
    </p:embeddedFont>
    <p:embeddedFont>
      <p:font typeface="Sofia Sans" panose="020B0604020202020204" charset="0"/>
      <p:regular r:id="rId29"/>
      <p:bold r:id="rId30"/>
      <p:italic r:id="rId31"/>
      <p:boldItalic r:id="rId32"/>
    </p:embeddedFont>
    <p:embeddedFont>
      <p:font typeface="Sofia Sans SemiBold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183C14-2A0E-4BB9-8A51-54E83775FC88}">
  <a:tblStyle styleId="{A2183C14-2A0E-4BB9-8A51-54E83775FC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C07F7E-403D-40CD-AEA2-F87C6E0C24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/>
    <p:restoredTop sz="77545"/>
  </p:normalViewPr>
  <p:slideViewPr>
    <p:cSldViewPr snapToGrid="0">
      <p:cViewPr varScale="1">
        <p:scale>
          <a:sx n="120" d="100"/>
          <a:sy n="120" d="100"/>
        </p:scale>
        <p:origin x="11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heme" Target="theme/theme1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 Nguyen (Student)" userId="22fbb6fa-9539-4ea0-943e-f877b59185be" providerId="ADAL" clId="{FE1F984C-1C36-4730-9CF7-28FED7C1B591}"/>
    <pc:docChg chg="undo custSel modSld">
      <pc:chgData name="Hai Nguyen (Student)" userId="22fbb6fa-9539-4ea0-943e-f877b59185be" providerId="ADAL" clId="{FE1F984C-1C36-4730-9CF7-28FED7C1B591}" dt="2025-05-10T02:10:53.789" v="11" actId="403"/>
      <pc:docMkLst>
        <pc:docMk/>
      </pc:docMkLst>
      <pc:sldChg chg="addSp modSp mod">
        <pc:chgData name="Hai Nguyen (Student)" userId="22fbb6fa-9539-4ea0-943e-f877b59185be" providerId="ADAL" clId="{FE1F984C-1C36-4730-9CF7-28FED7C1B591}" dt="2025-05-10T02:10:53.789" v="11" actId="403"/>
        <pc:sldMkLst>
          <pc:docMk/>
          <pc:sldMk cId="0" sldId="256"/>
        </pc:sldMkLst>
        <pc:spChg chg="add mod">
          <ac:chgData name="Hai Nguyen (Student)" userId="22fbb6fa-9539-4ea0-943e-f877b59185be" providerId="ADAL" clId="{FE1F984C-1C36-4730-9CF7-28FED7C1B591}" dt="2025-05-10T02:10:53.789" v="11" actId="403"/>
          <ac:spMkLst>
            <pc:docMk/>
            <pc:sldMk cId="0" sldId="256"/>
            <ac:spMk id="3" creationId="{1B569C14-3097-CBDF-6F17-24238D4B5345}"/>
          </ac:spMkLst>
        </pc:spChg>
        <pc:spChg chg="mod">
          <ac:chgData name="Hai Nguyen (Student)" userId="22fbb6fa-9539-4ea0-943e-f877b59185be" providerId="ADAL" clId="{FE1F984C-1C36-4730-9CF7-28FED7C1B591}" dt="2025-05-10T02:10:40.769" v="4" actId="1076"/>
          <ac:spMkLst>
            <pc:docMk/>
            <pc:sldMk cId="0" sldId="256"/>
            <ac:spMk id="28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87b6de8bc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87b6de8bc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Hello everyone, my name is Nguyen Dong Hai – 24072183.</a:t>
            </a:r>
            <a:br>
              <a:rPr lang="en-US" dirty="0"/>
            </a:br>
            <a:r>
              <a:rPr lang="en-US" dirty="0"/>
              <a:t>Today I’m presenting my Big Data Analytics project titled: </a:t>
            </a:r>
            <a:r>
              <a:rPr lang="en-US" b="1" dirty="0"/>
              <a:t>“Personalized Healthcare Analytics with Wearable Data.”</a:t>
            </a:r>
            <a:br>
              <a:rPr lang="en-US" dirty="0"/>
            </a:br>
            <a:r>
              <a:rPr lang="en-US" dirty="0"/>
              <a:t>This project focuses on analyzing Fitbit data to uncover user health patterns through clustering and anomaly detection, all visualized via an interactive dashboard.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/>
              <a:t>Here's an overview of my presentation.</a:t>
            </a:r>
            <a:br>
              <a:rPr lang="en-US" sz="2000" dirty="0"/>
            </a:br>
            <a:r>
              <a:rPr lang="en-US" sz="2000" dirty="0"/>
              <a:t>I’ll briefly go through the project’s objectives, methodology, and system architecture.</a:t>
            </a:r>
            <a:br>
              <a:rPr lang="en-US" sz="2000" dirty="0"/>
            </a:br>
            <a:r>
              <a:rPr lang="en-US" sz="2000" dirty="0"/>
              <a:t>Then, I’ll demonstrate the live results using my </a:t>
            </a:r>
            <a:r>
              <a:rPr lang="en-US" sz="2000" dirty="0" err="1"/>
              <a:t>Streamlit</a:t>
            </a:r>
            <a:r>
              <a:rPr lang="en-US" sz="2000" dirty="0"/>
              <a:t> dashboard, and finally, share the key conclusions and future improvements.</a:t>
            </a: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dirty="0"/>
              <a:t>The goal of the project is to turn raw Fitbit data into meaningful, personalized health insights.</a:t>
            </a:r>
            <a:br>
              <a:rPr lang="en-US" dirty="0"/>
            </a:br>
            <a:r>
              <a:rPr lang="en-US" dirty="0"/>
              <a:t>I had four main objectives: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user activity data such as steps and calories.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Segment users into activity groups using clustering.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 outlier behaviors that may signal health anomalies.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Present this information through an interactive dashboard for easier understanding.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dirty="0"/>
              <a:t>The goal of the project is to turn raw Fitbit data into meaningful, personalized health insights.</a:t>
            </a:r>
            <a:br>
              <a:rPr lang="en-US" dirty="0"/>
            </a:br>
            <a:r>
              <a:rPr lang="en-US" dirty="0"/>
              <a:t>I had four main objectives: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user activity data such as steps and calories.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Segment users into activity groups using clustering.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 outlier behaviors that may signal health anomalies.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Present this information through an interactive dashboard for easier understanding.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58BEED9F-72DF-263C-9619-131983D18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54dda1946d_6_308:notes">
            <a:extLst>
              <a:ext uri="{FF2B5EF4-FFF2-40B4-BE49-F238E27FC236}">
                <a16:creationId xmlns:a16="http://schemas.microsoft.com/office/drawing/2014/main" id="{35B81856-1261-C6B6-4628-148AB114A4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54dda1946d_6_308:notes">
            <a:extLst>
              <a:ext uri="{FF2B5EF4-FFF2-40B4-BE49-F238E27FC236}">
                <a16:creationId xmlns:a16="http://schemas.microsoft.com/office/drawing/2014/main" id="{E6AF618D-ED62-871F-19A2-E16024419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dirty="0"/>
              <a:t>Here’s an overview of the techniques I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preprocessing</a:t>
            </a:r>
            <a:r>
              <a:rPr lang="en-US" dirty="0"/>
              <a:t> with Pandas to clean and transform the Fitbit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KMeans</a:t>
            </a:r>
            <a:r>
              <a:rPr lang="en-US" b="1" dirty="0"/>
              <a:t> clustering</a:t>
            </a:r>
            <a:r>
              <a:rPr lang="en-US" dirty="0"/>
              <a:t> to classify user-days into three activity levels: Low, Moderate, and High.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Anomaly detection</a:t>
            </a:r>
            <a:r>
              <a:rPr lang="en-US" dirty="0"/>
              <a:t> using the IQR method to flag unusually high or low step 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Dashboard development</a:t>
            </a:r>
            <a:r>
              <a:rPr lang="en-US" dirty="0"/>
              <a:t> in </a:t>
            </a:r>
            <a:r>
              <a:rPr lang="en-US" dirty="0" err="1"/>
              <a:t>Streamlit</a:t>
            </a:r>
            <a:r>
              <a:rPr lang="en-US" dirty="0"/>
              <a:t> to display the insights in a user-friendly way.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5705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dirty="0"/>
              <a:t>Here’s an overview of the techniques I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preprocessing</a:t>
            </a:r>
            <a:r>
              <a:rPr lang="en-US" dirty="0"/>
              <a:t> with Pandas to clean and transform the Fitbit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KMeans</a:t>
            </a:r>
            <a:r>
              <a:rPr lang="en-US" b="1" dirty="0"/>
              <a:t> clustering</a:t>
            </a:r>
            <a:r>
              <a:rPr lang="en-US" dirty="0"/>
              <a:t> to classify user-days into three activity levels: Low, Moderate, and High.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Anomaly detection</a:t>
            </a:r>
            <a:r>
              <a:rPr lang="en-US" dirty="0"/>
              <a:t> using the IQR method to flag unusually high or low step 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Dashboard development</a:t>
            </a:r>
            <a:r>
              <a:rPr lang="en-US" dirty="0"/>
              <a:t> in </a:t>
            </a:r>
            <a:r>
              <a:rPr lang="en-US" dirty="0" err="1"/>
              <a:t>Streamlit</a:t>
            </a:r>
            <a:r>
              <a:rPr lang="en-US" dirty="0"/>
              <a:t> to display the insights in a user-friendly way.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F3099790-527C-6B4D-B06D-5F4F9F44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54dda1946d_6_308:notes">
            <a:extLst>
              <a:ext uri="{FF2B5EF4-FFF2-40B4-BE49-F238E27FC236}">
                <a16:creationId xmlns:a16="http://schemas.microsoft.com/office/drawing/2014/main" id="{0DC1F95D-FB91-1957-5F35-4F2C3A96A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54dda1946d_6_308:notes">
            <a:extLst>
              <a:ext uri="{FF2B5EF4-FFF2-40B4-BE49-F238E27FC236}">
                <a16:creationId xmlns:a16="http://schemas.microsoft.com/office/drawing/2014/main" id="{F7C4CCBE-E25D-9116-46C2-6561F96B6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dirty="0"/>
              <a:t>This slide shows the overall flow of the system, from raw data to dashboard.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First, I load a Fitbit dataset from Kaggle, which contains daily step counts, calories, and activity minutes.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 clean and format the data using Pandas: convert dates, remove duplicates, and select relevant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 I apply </a:t>
            </a:r>
            <a:r>
              <a:rPr lang="en-US" b="1" dirty="0" err="1"/>
              <a:t>KMeans</a:t>
            </a:r>
            <a:r>
              <a:rPr lang="en-US" b="1" dirty="0"/>
              <a:t> clustering</a:t>
            </a:r>
            <a:r>
              <a:rPr lang="en-US" dirty="0"/>
              <a:t> on features like </a:t>
            </a:r>
            <a:r>
              <a:rPr lang="en-US" dirty="0" err="1"/>
              <a:t>TotalSteps</a:t>
            </a:r>
            <a:r>
              <a:rPr lang="en-US" dirty="0"/>
              <a:t> and Calories to group users into 3 activity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detect anomalies, I use the IQR method — anything outside the 5th and 95th percentile of </a:t>
            </a:r>
            <a:r>
              <a:rPr lang="en-US" dirty="0" err="1"/>
              <a:t>TotalSteps</a:t>
            </a:r>
            <a:r>
              <a:rPr lang="en-US" dirty="0"/>
              <a:t> is considered unusual.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of these results are visualized in a </a:t>
            </a:r>
            <a:r>
              <a:rPr lang="en-US" dirty="0" err="1"/>
              <a:t>Streamlit</a:t>
            </a:r>
            <a:r>
              <a:rPr lang="en-US" dirty="0"/>
              <a:t> web app that allows users to explore their personal health trends interactively.</a:t>
            </a:r>
          </a:p>
          <a:p>
            <a:r>
              <a:rPr lang="en-US" dirty="0"/>
              <a:t>I’ll show you how this works in the live demo next.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7405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dirty="0"/>
              <a:t>This slide shows the overall flow of the system, from raw data to dashboard.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First, I load a Fitbit dataset from Kaggle, which contains daily step counts, calories, and activity minutes.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 clean and format the data using Pandas: convert dates, remove duplicates, and select relevant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 I apply </a:t>
            </a:r>
            <a:r>
              <a:rPr lang="en-US" b="1" dirty="0" err="1"/>
              <a:t>KMeans</a:t>
            </a:r>
            <a:r>
              <a:rPr lang="en-US" b="1" dirty="0"/>
              <a:t> clustering</a:t>
            </a:r>
            <a:r>
              <a:rPr lang="en-US" dirty="0"/>
              <a:t> on features like </a:t>
            </a:r>
            <a:r>
              <a:rPr lang="en-US" dirty="0" err="1"/>
              <a:t>TotalSteps</a:t>
            </a:r>
            <a:r>
              <a:rPr lang="en-US" dirty="0"/>
              <a:t> and Calories to group users into 3 activity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detect anomalies, I use the IQR method — anything outside the 5th and 95th percentile of </a:t>
            </a:r>
            <a:r>
              <a:rPr lang="en-US" dirty="0" err="1"/>
              <a:t>TotalSteps</a:t>
            </a:r>
            <a:r>
              <a:rPr lang="en-US" dirty="0"/>
              <a:t> is considered unusual.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of these results are visualized in a </a:t>
            </a:r>
            <a:r>
              <a:rPr lang="en-US" dirty="0" err="1"/>
              <a:t>Streamlit</a:t>
            </a:r>
            <a:r>
              <a:rPr lang="en-US" dirty="0"/>
              <a:t> web app that allows users to explore their personal health trends interactively.</a:t>
            </a:r>
          </a:p>
          <a:p>
            <a:r>
              <a:rPr lang="en-US" dirty="0"/>
              <a:t>I’ll show you how this works in the live demo next.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DB1CA040-F90B-7169-90EE-B3EA66385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84d99d1a72_0_2:notes">
            <a:extLst>
              <a:ext uri="{FF2B5EF4-FFF2-40B4-BE49-F238E27FC236}">
                <a16:creationId xmlns:a16="http://schemas.microsoft.com/office/drawing/2014/main" id="{74A1036F-9B5C-FFB4-7340-5E97E895D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84d99d1a72_0_2:notes">
            <a:extLst>
              <a:ext uri="{FF2B5EF4-FFF2-40B4-BE49-F238E27FC236}">
                <a16:creationId xmlns:a16="http://schemas.microsoft.com/office/drawing/2014/main" id="{FD308950-693B-78A1-B00B-CE3C9E3DC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dirty="0"/>
              <a:t>This slide shows the overall flow of the system, from raw data to dashboard.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First, I load a Fitbit dataset from Kaggle, which contains daily step counts, calories, and activity minutes.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 clean and format the data using Pandas: convert dates, remove duplicates, and select relevant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 I apply </a:t>
            </a:r>
            <a:r>
              <a:rPr lang="en-US" b="1" dirty="0" err="1"/>
              <a:t>KMeans</a:t>
            </a:r>
            <a:r>
              <a:rPr lang="en-US" b="1" dirty="0"/>
              <a:t> clustering</a:t>
            </a:r>
            <a:r>
              <a:rPr lang="en-US" dirty="0"/>
              <a:t> on features like </a:t>
            </a:r>
            <a:r>
              <a:rPr lang="en-US" dirty="0" err="1"/>
              <a:t>TotalSteps</a:t>
            </a:r>
            <a:r>
              <a:rPr lang="en-US" dirty="0"/>
              <a:t> and Calories to group users into 3 activity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detect anomalies, I use the IQR method — anything outside the 5th and 95th percentile of </a:t>
            </a:r>
            <a:r>
              <a:rPr lang="en-US" dirty="0" err="1"/>
              <a:t>TotalSteps</a:t>
            </a:r>
            <a:r>
              <a:rPr lang="en-US" dirty="0"/>
              <a:t> is considered unusual.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of these results are visualized in a </a:t>
            </a:r>
            <a:r>
              <a:rPr lang="en-US" dirty="0" err="1"/>
              <a:t>Streamlit</a:t>
            </a:r>
            <a:r>
              <a:rPr lang="en-US" dirty="0"/>
              <a:t> web app that allows users to explore their personal health trends interactively.</a:t>
            </a:r>
          </a:p>
          <a:p>
            <a:r>
              <a:rPr lang="en-US" dirty="0"/>
              <a:t>I’ll show you how this works in the live demo next.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0111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B0B7CA41-3636-44C9-49C1-2F6C2E9B2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54dda1946d_6_308:notes">
            <a:extLst>
              <a:ext uri="{FF2B5EF4-FFF2-40B4-BE49-F238E27FC236}">
                <a16:creationId xmlns:a16="http://schemas.microsoft.com/office/drawing/2014/main" id="{6E1FD966-82F2-7015-632B-6813F8AF0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54dda1946d_6_308:notes">
            <a:extLst>
              <a:ext uri="{FF2B5EF4-FFF2-40B4-BE49-F238E27FC236}">
                <a16:creationId xmlns:a16="http://schemas.microsoft.com/office/drawing/2014/main" id="{AB1511AE-03AF-DB73-6A65-C4D99AD2E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 the sidebar, users can choose their User ID to view personal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Overview tab</a:t>
            </a:r>
            <a:r>
              <a:rPr lang="en-US" dirty="0"/>
              <a:t> shows the average steps, calories, and active minutes — very useful for summarizing lifestyle habits.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Trends tab</a:t>
            </a:r>
            <a:r>
              <a:rPr lang="en-US" dirty="0"/>
              <a:t> visualizes step counts, calories, and activity patterns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Segmentation</a:t>
            </a:r>
            <a:r>
              <a:rPr lang="en-US" dirty="0"/>
              <a:t>, you’ll see how users are grouped into clusters like Low, Moderate, and High Activity based on daily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Lastly, the </a:t>
            </a:r>
            <a:r>
              <a:rPr lang="en-US" b="1" dirty="0"/>
              <a:t>Anomalies tab</a:t>
            </a:r>
            <a:r>
              <a:rPr lang="en-US" dirty="0"/>
              <a:t> shows days with very high or very low steps, detected using the IQR method — these may indicate errors, missed days, or intense workouts.</a:t>
            </a:r>
          </a:p>
          <a:p>
            <a:r>
              <a:rPr lang="en-US" dirty="0"/>
              <a:t>The dashboard is designed to be interactive and intuitive, helping users understand their behavior at a glance.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0066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 the sidebar, users can choose their User ID to view personal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Overview tab</a:t>
            </a:r>
            <a:r>
              <a:rPr lang="en-US" dirty="0"/>
              <a:t> shows the average steps, calories, and active minutes — very useful for summarizing lifestyle habits.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Trends tab</a:t>
            </a:r>
            <a:r>
              <a:rPr lang="en-US" dirty="0"/>
              <a:t> visualizes step counts, calories, and activity patterns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Segmentation</a:t>
            </a:r>
            <a:r>
              <a:rPr lang="en-US" dirty="0"/>
              <a:t>, you’ll see how users are grouped into clusters like Low, Moderate, and High Activity based on daily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Lastly, the </a:t>
            </a:r>
            <a:r>
              <a:rPr lang="en-US" b="1" dirty="0"/>
              <a:t>Anomalies tab</a:t>
            </a:r>
            <a:r>
              <a:rPr lang="en-US" dirty="0"/>
              <a:t> shows days with very high or very low steps, detected using the IQR method — these may indicate errors, missed days, or intense workouts.</a:t>
            </a:r>
          </a:p>
          <a:p>
            <a:r>
              <a:rPr lang="en-US" dirty="0"/>
              <a:t>The dashboard is designed to be interactive and intuitive, helping users understand their behavior at a glance.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014399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 the sidebar, users can choose their User ID to view personal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Overview tab</a:t>
            </a:r>
            <a:r>
              <a:rPr lang="en-US" dirty="0"/>
              <a:t> shows the average steps, calories, and active minutes — very useful for summarizing lifestyle habits.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Trends tab</a:t>
            </a:r>
            <a:r>
              <a:rPr lang="en-US" dirty="0"/>
              <a:t> visualizes step counts, calories, and activity patterns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Segmentation</a:t>
            </a:r>
            <a:r>
              <a:rPr lang="en-US" dirty="0"/>
              <a:t>, you’ll see how users are grouped into clusters like Low, Moderate, and High Activity based on daily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Lastly, the </a:t>
            </a:r>
            <a:r>
              <a:rPr lang="en-US" b="1" dirty="0"/>
              <a:t>Anomalies tab</a:t>
            </a:r>
            <a:r>
              <a:rPr lang="en-US" dirty="0"/>
              <a:t> shows days with very high or very low steps, detected using the IQR method — these may indicate errors, missed days, or intense workouts.</a:t>
            </a:r>
          </a:p>
          <a:p>
            <a:r>
              <a:rPr lang="en-US" dirty="0"/>
              <a:t>The dashboard is designed to be interactive and intuitive, helping users understand their behavior at a glance.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770667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 the sidebar, users can choose their User ID to view personal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Overview tab</a:t>
            </a:r>
            <a:r>
              <a:rPr lang="en-US" dirty="0"/>
              <a:t> shows the average steps, calories, and active minutes — very useful for summarizing lifestyle habits.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Trends tab</a:t>
            </a:r>
            <a:r>
              <a:rPr lang="en-US" dirty="0"/>
              <a:t> visualizes step counts, calories, and activity patterns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Segmentation</a:t>
            </a:r>
            <a:r>
              <a:rPr lang="en-US" dirty="0"/>
              <a:t>, you’ll see how users are grouped into clusters like Low, Moderate, and High Activity based on daily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Lastly, the </a:t>
            </a:r>
            <a:r>
              <a:rPr lang="en-US" b="1" dirty="0"/>
              <a:t>Anomalies tab</a:t>
            </a:r>
            <a:r>
              <a:rPr lang="en-US" dirty="0"/>
              <a:t> shows days with very high or very low steps, detected using the IQR method — these may indicate errors, missed days, or intense workouts.</a:t>
            </a:r>
          </a:p>
          <a:p>
            <a:r>
              <a:rPr lang="en-US" dirty="0"/>
              <a:t>The dashboard is designed to be interactive and intuitive, helping users understand their behavior at a glance.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340704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 the sidebar, users can choose their User ID to view personal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Overview tab</a:t>
            </a:r>
            <a:r>
              <a:rPr lang="en-US" dirty="0"/>
              <a:t> shows the average steps, calories, and active minutes — very useful for summarizing lifestyle habits.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Trends tab</a:t>
            </a:r>
            <a:r>
              <a:rPr lang="en-US" dirty="0"/>
              <a:t> visualizes step counts, calories, and activity patterns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Segmentation</a:t>
            </a:r>
            <a:r>
              <a:rPr lang="en-US" dirty="0"/>
              <a:t>, you’ll see how users are grouped into clusters like Low, Moderate, and High Activity based on daily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Lastly, the </a:t>
            </a:r>
            <a:r>
              <a:rPr lang="en-US" b="1" dirty="0"/>
              <a:t>Anomalies tab</a:t>
            </a:r>
            <a:r>
              <a:rPr lang="en-US" dirty="0"/>
              <a:t> shows days with very high or very low steps, detected using the IQR method — these may indicate errors, missed days, or intense workouts.</a:t>
            </a:r>
          </a:p>
          <a:p>
            <a:r>
              <a:rPr lang="en-US" dirty="0"/>
              <a:t>The dashboard is designed to be interactive and intuitive, helping users understand their behavior at a glance.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44826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929152A7-DBB4-9E04-843A-F4F84904E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54dda1946d_6_308:notes">
            <a:extLst>
              <a:ext uri="{FF2B5EF4-FFF2-40B4-BE49-F238E27FC236}">
                <a16:creationId xmlns:a16="http://schemas.microsoft.com/office/drawing/2014/main" id="{38B34B32-FE77-66BF-E899-578FD3036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54dda1946d_6_308:notes">
            <a:extLst>
              <a:ext uri="{FF2B5EF4-FFF2-40B4-BE49-F238E27FC236}">
                <a16:creationId xmlns:a16="http://schemas.microsoft.com/office/drawing/2014/main" id="{DF6B9032-BA63-62D3-5D10-3E3F2E6BDD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dirty="0"/>
              <a:t>In conclusion, this project successfully: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Segmented user activity levels using clustering,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Detected abnormal patterns using statistical thresholds,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 delivered the findings through an interactive </a:t>
            </a:r>
            <a:r>
              <a:rPr lang="en-US" dirty="0" err="1"/>
              <a:t>Streamlit</a:t>
            </a:r>
            <a:r>
              <a:rPr lang="en-US" dirty="0"/>
              <a:t> dashboard.</a:t>
            </a:r>
          </a:p>
          <a:p>
            <a:r>
              <a:rPr lang="en-US" dirty="0"/>
              <a:t>Through this project, I learned the importance of </a:t>
            </a:r>
            <a:r>
              <a:rPr lang="en-US" b="1" dirty="0"/>
              <a:t>data preprocessing, model tuning, and effective visualization</a:t>
            </a:r>
            <a:r>
              <a:rPr lang="en-US" dirty="0"/>
              <a:t> in Big Data Analytics.</a:t>
            </a:r>
            <a:br>
              <a:rPr lang="en-US" dirty="0"/>
            </a:br>
            <a:r>
              <a:rPr lang="en-US" dirty="0"/>
              <a:t>For future work, I’d like to integrate more data types — such as heart rate or sleep — and deploy the dashboard online for public use.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230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9625" y="-25"/>
            <a:ext cx="9188400" cy="5143500"/>
            <a:chOff x="-100" y="-9725"/>
            <a:chExt cx="9188400" cy="51435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Sofia Sans"/>
                <a:ea typeface="Sofia Sans"/>
                <a:cs typeface="Sofia Sans"/>
                <a:sym typeface="Sofi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1093100" y="195425"/>
            <a:ext cx="8275575" cy="4107200"/>
            <a:chOff x="1093100" y="195425"/>
            <a:chExt cx="8275575" cy="4107200"/>
          </a:xfrm>
        </p:grpSpPr>
        <p:sp>
          <p:nvSpPr>
            <p:cNvPr id="15" name="Google Shape;15;p2"/>
            <p:cNvSpPr/>
            <p:nvPr/>
          </p:nvSpPr>
          <p:spPr>
            <a:xfrm>
              <a:off x="8781875" y="3715825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707525" y="3127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093100" y="19542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8125" y="257175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2" name="Google Shape;22;p3"/>
          <p:cNvGrpSpPr/>
          <p:nvPr/>
        </p:nvGrpSpPr>
        <p:grpSpPr>
          <a:xfrm>
            <a:off x="7814275" y="386450"/>
            <a:ext cx="855450" cy="4590600"/>
            <a:chOff x="7814275" y="386450"/>
            <a:chExt cx="855450" cy="4590600"/>
          </a:xfrm>
        </p:grpSpPr>
        <p:sp>
          <p:nvSpPr>
            <p:cNvPr id="23" name="Google Shape;23;p3"/>
            <p:cNvSpPr/>
            <p:nvPr/>
          </p:nvSpPr>
          <p:spPr>
            <a:xfrm>
              <a:off x="7814275" y="475025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8518225" y="432117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8166250" y="38645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8518225" y="10922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7" name="Google Shape;27;p3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1342075" y="3255050"/>
            <a:ext cx="3012600" cy="12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1342075" y="1592327"/>
            <a:ext cx="3012600" cy="12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1342076" y="1222988"/>
            <a:ext cx="3012600" cy="4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1342076" y="2886309"/>
            <a:ext cx="3012600" cy="4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47" name="Google Shape;47;p5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5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" name="Google Shape;49;p5"/>
          <p:cNvGrpSpPr/>
          <p:nvPr/>
        </p:nvGrpSpPr>
        <p:grpSpPr>
          <a:xfrm>
            <a:off x="462875" y="198225"/>
            <a:ext cx="8973075" cy="3528450"/>
            <a:chOff x="462875" y="198225"/>
            <a:chExt cx="8973075" cy="3528450"/>
          </a:xfrm>
        </p:grpSpPr>
        <p:sp>
          <p:nvSpPr>
            <p:cNvPr id="50" name="Google Shape;50;p5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0800000">
              <a:off x="8849150" y="107690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 rot="10800000">
              <a:off x="462875" y="3648675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6" name="Google Shape;96;p9"/>
          <p:cNvGrpSpPr/>
          <p:nvPr/>
        </p:nvGrpSpPr>
        <p:grpSpPr>
          <a:xfrm>
            <a:off x="-22200" y="297350"/>
            <a:ext cx="2982725" cy="4781850"/>
            <a:chOff x="-22200" y="297350"/>
            <a:chExt cx="2982725" cy="4781850"/>
          </a:xfrm>
        </p:grpSpPr>
        <p:sp>
          <p:nvSpPr>
            <p:cNvPr id="97" name="Google Shape;97;p9"/>
            <p:cNvSpPr/>
            <p:nvPr/>
          </p:nvSpPr>
          <p:spPr>
            <a:xfrm flipH="1">
              <a:off x="2733725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8" name="Google Shape;98;p9"/>
            <p:cNvSpPr/>
            <p:nvPr/>
          </p:nvSpPr>
          <p:spPr>
            <a:xfrm flipH="1">
              <a:off x="913250" y="2973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 flipH="1">
              <a:off x="466325" y="156810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913250" y="47753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1" name="Google Shape;101;p9"/>
            <p:cNvSpPr/>
            <p:nvPr/>
          </p:nvSpPr>
          <p:spPr>
            <a:xfrm flipH="1">
              <a:off x="-22200" y="2384525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2" name="Google Shape;102;p9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103" name="Google Shape;103;p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2" hasCustomPrompt="1"/>
          </p:nvPr>
        </p:nvSpPr>
        <p:spPr>
          <a:xfrm>
            <a:off x="1618650" y="1480883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3" hasCustomPrompt="1"/>
          </p:nvPr>
        </p:nvSpPr>
        <p:spPr>
          <a:xfrm>
            <a:off x="1618650" y="2914291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480883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50" y="2914291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6" hasCustomPrompt="1"/>
          </p:nvPr>
        </p:nvSpPr>
        <p:spPr>
          <a:xfrm>
            <a:off x="6790650" y="1480883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7" hasCustomPrompt="1"/>
          </p:nvPr>
        </p:nvSpPr>
        <p:spPr>
          <a:xfrm>
            <a:off x="6790650" y="2914291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"/>
          </p:nvPr>
        </p:nvSpPr>
        <p:spPr>
          <a:xfrm>
            <a:off x="720000" y="1959025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8"/>
          </p:nvPr>
        </p:nvSpPr>
        <p:spPr>
          <a:xfrm>
            <a:off x="3306000" y="1959025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9"/>
          </p:nvPr>
        </p:nvSpPr>
        <p:spPr>
          <a:xfrm>
            <a:off x="5892000" y="1959025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13"/>
          </p:nvPr>
        </p:nvSpPr>
        <p:spPr>
          <a:xfrm>
            <a:off x="720000" y="3391139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14"/>
          </p:nvPr>
        </p:nvSpPr>
        <p:spPr>
          <a:xfrm>
            <a:off x="3306000" y="3391139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15"/>
          </p:nvPr>
        </p:nvSpPr>
        <p:spPr>
          <a:xfrm>
            <a:off x="5892000" y="3391139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-3639025" y="-1269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162425" y="53900"/>
            <a:ext cx="8613450" cy="4786650"/>
            <a:chOff x="162425" y="53900"/>
            <a:chExt cx="8613450" cy="4786650"/>
          </a:xfrm>
        </p:grpSpPr>
        <p:sp>
          <p:nvSpPr>
            <p:cNvPr id="131" name="Google Shape;131;p13"/>
            <p:cNvSpPr/>
            <p:nvPr/>
          </p:nvSpPr>
          <p:spPr>
            <a:xfrm flipH="1">
              <a:off x="872475" y="539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 flipH="1">
              <a:off x="7762250" y="46890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 flipH="1">
              <a:off x="7686050" y="12920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 flipH="1">
              <a:off x="8624375" y="192847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 flipH="1">
              <a:off x="162425" y="345692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36" name="Google Shape;136;p13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37" name="Google Shape;137;p1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p1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subTitle" idx="1"/>
          </p:nvPr>
        </p:nvSpPr>
        <p:spPr>
          <a:xfrm>
            <a:off x="937625" y="2043315"/>
            <a:ext cx="21753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subTitle" idx="2"/>
          </p:nvPr>
        </p:nvSpPr>
        <p:spPr>
          <a:xfrm>
            <a:off x="3484347" y="2043315"/>
            <a:ext cx="21753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subTitle" idx="3"/>
          </p:nvPr>
        </p:nvSpPr>
        <p:spPr>
          <a:xfrm>
            <a:off x="6031075" y="2043315"/>
            <a:ext cx="21753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4"/>
          </p:nvPr>
        </p:nvSpPr>
        <p:spPr>
          <a:xfrm>
            <a:off x="937625" y="1664100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ubTitle" idx="5"/>
          </p:nvPr>
        </p:nvSpPr>
        <p:spPr>
          <a:xfrm>
            <a:off x="3484350" y="1664100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6"/>
          </p:nvPr>
        </p:nvSpPr>
        <p:spPr>
          <a:xfrm>
            <a:off x="6031075" y="1664100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79" name="Google Shape;179;p17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80" name="Google Shape;180;p17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17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2" name="Google Shape;182;p17"/>
          <p:cNvSpPr/>
          <p:nvPr/>
        </p:nvSpPr>
        <p:spPr>
          <a:xfrm rot="10800000" flipH="1">
            <a:off x="-1760700" y="413105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83" name="Google Shape;183;p17"/>
          <p:cNvGrpSpPr/>
          <p:nvPr/>
        </p:nvGrpSpPr>
        <p:grpSpPr>
          <a:xfrm>
            <a:off x="236675" y="3018575"/>
            <a:ext cx="8451400" cy="2369425"/>
            <a:chOff x="236675" y="3018575"/>
            <a:chExt cx="8451400" cy="2369425"/>
          </a:xfrm>
        </p:grpSpPr>
        <p:sp>
          <p:nvSpPr>
            <p:cNvPr id="184" name="Google Shape;184;p17"/>
            <p:cNvSpPr/>
            <p:nvPr/>
          </p:nvSpPr>
          <p:spPr>
            <a:xfrm>
              <a:off x="236675" y="428877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720000" y="480120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236675" y="30185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8536575" y="42125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7924875" y="4801200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8"/>
          <p:cNvSpPr txBox="1">
            <a:spLocks noGrp="1"/>
          </p:cNvSpPr>
          <p:nvPr>
            <p:ph type="subTitle" idx="1"/>
          </p:nvPr>
        </p:nvSpPr>
        <p:spPr>
          <a:xfrm>
            <a:off x="1067574" y="1671136"/>
            <a:ext cx="3248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ubTitle" idx="2"/>
          </p:nvPr>
        </p:nvSpPr>
        <p:spPr>
          <a:xfrm>
            <a:off x="4828026" y="1671136"/>
            <a:ext cx="3248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8"/>
          <p:cNvSpPr txBox="1">
            <a:spLocks noGrp="1"/>
          </p:cNvSpPr>
          <p:nvPr>
            <p:ph type="subTitle" idx="3"/>
          </p:nvPr>
        </p:nvSpPr>
        <p:spPr>
          <a:xfrm>
            <a:off x="1067574" y="3328004"/>
            <a:ext cx="3248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subTitle" idx="4"/>
          </p:nvPr>
        </p:nvSpPr>
        <p:spPr>
          <a:xfrm>
            <a:off x="4828026" y="3328004"/>
            <a:ext cx="3248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ubTitle" idx="5"/>
          </p:nvPr>
        </p:nvSpPr>
        <p:spPr>
          <a:xfrm>
            <a:off x="1067574" y="1330575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ubTitle" idx="6"/>
          </p:nvPr>
        </p:nvSpPr>
        <p:spPr>
          <a:xfrm>
            <a:off x="1067574" y="2991375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7"/>
          </p:nvPr>
        </p:nvSpPr>
        <p:spPr>
          <a:xfrm>
            <a:off x="4827998" y="1330575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subTitle" idx="8"/>
          </p:nvPr>
        </p:nvSpPr>
        <p:spPr>
          <a:xfrm>
            <a:off x="4827998" y="2991375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99" name="Google Shape;199;p18"/>
          <p:cNvGrpSpPr/>
          <p:nvPr/>
        </p:nvGrpSpPr>
        <p:grpSpPr>
          <a:xfrm rot="10800000"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00" name="Google Shape;200;p18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18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2" name="Google Shape;202;p18"/>
          <p:cNvGrpSpPr/>
          <p:nvPr/>
        </p:nvGrpSpPr>
        <p:grpSpPr>
          <a:xfrm>
            <a:off x="7142850" y="2050250"/>
            <a:ext cx="2190675" cy="2839050"/>
            <a:chOff x="7142850" y="2050250"/>
            <a:chExt cx="2190675" cy="2839050"/>
          </a:xfrm>
        </p:grpSpPr>
        <p:sp>
          <p:nvSpPr>
            <p:cNvPr id="203" name="Google Shape;203;p18"/>
            <p:cNvSpPr/>
            <p:nvPr/>
          </p:nvSpPr>
          <p:spPr>
            <a:xfrm rot="10800000">
              <a:off x="7142850" y="47378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 rot="10800000">
              <a:off x="8746725" y="3307725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 rot="10800000">
              <a:off x="8926725" y="26588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6" name="Google Shape;206;p18"/>
            <p:cNvSpPr/>
            <p:nvPr/>
          </p:nvSpPr>
          <p:spPr>
            <a:xfrm rot="10800000">
              <a:off x="8746725" y="20502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 rot="10800000">
              <a:off x="8668425" y="4321750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08" name="Google Shape;208;p18"/>
          <p:cNvSpPr/>
          <p:nvPr/>
        </p:nvSpPr>
        <p:spPr>
          <a:xfrm rot="10800000" flipH="1">
            <a:off x="8237200" y="3894525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9"/>
          <p:cNvSpPr txBox="1">
            <a:spLocks noGrp="1"/>
          </p:cNvSpPr>
          <p:nvPr>
            <p:ph type="subTitle" idx="1"/>
          </p:nvPr>
        </p:nvSpPr>
        <p:spPr>
          <a:xfrm>
            <a:off x="1035375" y="16161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9"/>
          <p:cNvSpPr txBox="1">
            <a:spLocks noGrp="1"/>
          </p:cNvSpPr>
          <p:nvPr>
            <p:ph type="subTitle" idx="2"/>
          </p:nvPr>
        </p:nvSpPr>
        <p:spPr>
          <a:xfrm>
            <a:off x="3455250" y="16161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9"/>
          <p:cNvSpPr txBox="1">
            <a:spLocks noGrp="1"/>
          </p:cNvSpPr>
          <p:nvPr>
            <p:ph type="subTitle" idx="3"/>
          </p:nvPr>
        </p:nvSpPr>
        <p:spPr>
          <a:xfrm>
            <a:off x="1035375" y="3324323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subTitle" idx="4"/>
          </p:nvPr>
        </p:nvSpPr>
        <p:spPr>
          <a:xfrm>
            <a:off x="3455250" y="3324323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subTitle" idx="5"/>
          </p:nvPr>
        </p:nvSpPr>
        <p:spPr>
          <a:xfrm>
            <a:off x="5875125" y="16161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6"/>
          </p:nvPr>
        </p:nvSpPr>
        <p:spPr>
          <a:xfrm>
            <a:off x="5875125" y="3324323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7"/>
          </p:nvPr>
        </p:nvSpPr>
        <p:spPr>
          <a:xfrm>
            <a:off x="1035375" y="1312275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8"/>
          </p:nvPr>
        </p:nvSpPr>
        <p:spPr>
          <a:xfrm>
            <a:off x="3456450" y="1312275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9"/>
          </p:nvPr>
        </p:nvSpPr>
        <p:spPr>
          <a:xfrm>
            <a:off x="5875125" y="1312275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13"/>
          </p:nvPr>
        </p:nvSpPr>
        <p:spPr>
          <a:xfrm>
            <a:off x="1035375" y="3020301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subTitle" idx="14"/>
          </p:nvPr>
        </p:nvSpPr>
        <p:spPr>
          <a:xfrm>
            <a:off x="3456450" y="3020306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15"/>
          </p:nvPr>
        </p:nvSpPr>
        <p:spPr>
          <a:xfrm>
            <a:off x="5875125" y="3020306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23" name="Google Shape;223;p19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24" name="Google Shape;224;p1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1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6" name="Google Shape;226;p19"/>
          <p:cNvSpPr/>
          <p:nvPr/>
        </p:nvSpPr>
        <p:spPr>
          <a:xfrm rot="10800000" flipH="1">
            <a:off x="2478750" y="-38629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27" name="Google Shape;227;p19"/>
          <p:cNvGrpSpPr/>
          <p:nvPr/>
        </p:nvGrpSpPr>
        <p:grpSpPr>
          <a:xfrm>
            <a:off x="194325" y="-388575"/>
            <a:ext cx="8741550" cy="2176725"/>
            <a:chOff x="194325" y="-388575"/>
            <a:chExt cx="8741550" cy="2176725"/>
          </a:xfrm>
        </p:grpSpPr>
        <p:sp>
          <p:nvSpPr>
            <p:cNvPr id="228" name="Google Shape;228;p19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 rot="10800000">
              <a:off x="4278600" y="-388575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 rot="10800000">
              <a:off x="194325" y="2675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1" name="Google Shape;231;p19"/>
            <p:cNvSpPr/>
            <p:nvPr/>
          </p:nvSpPr>
          <p:spPr>
            <a:xfrm rot="10800000">
              <a:off x="421125" y="10177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 rot="10800000">
              <a:off x="268575" y="1710150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>
            <a:spLocks noGrp="1"/>
          </p:cNvSpPr>
          <p:nvPr>
            <p:ph type="title"/>
          </p:nvPr>
        </p:nvSpPr>
        <p:spPr>
          <a:xfrm>
            <a:off x="713225" y="732088"/>
            <a:ext cx="3604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1"/>
          <p:cNvSpPr txBox="1">
            <a:spLocks noGrp="1"/>
          </p:cNvSpPr>
          <p:nvPr>
            <p:ph type="subTitle" idx="1"/>
          </p:nvPr>
        </p:nvSpPr>
        <p:spPr>
          <a:xfrm>
            <a:off x="713225" y="1689338"/>
            <a:ext cx="36048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47" name="Google Shape;247;p21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48" name="Google Shape;248;p21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21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0" name="Google Shape;250;p21"/>
          <p:cNvGrpSpPr/>
          <p:nvPr/>
        </p:nvGrpSpPr>
        <p:grpSpPr>
          <a:xfrm>
            <a:off x="3387100" y="-71975"/>
            <a:ext cx="5381150" cy="3835450"/>
            <a:chOff x="3387100" y="-71975"/>
            <a:chExt cx="5381150" cy="3835450"/>
          </a:xfrm>
        </p:grpSpPr>
        <p:sp>
          <p:nvSpPr>
            <p:cNvPr id="251" name="Google Shape;251;p21"/>
            <p:cNvSpPr/>
            <p:nvPr/>
          </p:nvSpPr>
          <p:spPr>
            <a:xfrm rot="10800000">
              <a:off x="5454575" y="1938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 rot="10800000">
              <a:off x="8167300" y="230575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 rot="10800000">
              <a:off x="3387100" y="-71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 rot="10800000">
              <a:off x="8616750" y="361197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55" name="Google Shape;255;p21"/>
          <p:cNvSpPr txBox="1"/>
          <p:nvPr/>
        </p:nvSpPr>
        <p:spPr>
          <a:xfrm>
            <a:off x="713225" y="3352938"/>
            <a:ext cx="36048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CREDITS:</a:t>
            </a:r>
            <a:r>
              <a:rPr lang="en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sz="1000" b="1" u="sng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22"/>
          <p:cNvGrpSpPr/>
          <p:nvPr/>
        </p:nvGrpSpPr>
        <p:grpSpPr>
          <a:xfrm flipH="1">
            <a:off x="-22200" y="3079850"/>
            <a:ext cx="1556325" cy="1999350"/>
            <a:chOff x="8267750" y="3079850"/>
            <a:chExt cx="1556325" cy="1999350"/>
          </a:xfrm>
        </p:grpSpPr>
        <p:sp>
          <p:nvSpPr>
            <p:cNvPr id="258" name="Google Shape;258;p22"/>
            <p:cNvSpPr/>
            <p:nvPr/>
          </p:nvSpPr>
          <p:spPr>
            <a:xfrm flipH="1">
              <a:off x="8267750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9" name="Google Shape;259;p22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0" name="Google Shape;260;p22"/>
            <p:cNvSpPr/>
            <p:nvPr/>
          </p:nvSpPr>
          <p:spPr>
            <a:xfrm flipH="1">
              <a:off x="9190475" y="3635025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1" name="Google Shape;261;p22"/>
            <p:cNvSpPr/>
            <p:nvPr/>
          </p:nvSpPr>
          <p:spPr>
            <a:xfrm flipH="1">
              <a:off x="9266675" y="30798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2" name="Google Shape;262;p22"/>
            <p:cNvSpPr/>
            <p:nvPr/>
          </p:nvSpPr>
          <p:spPr>
            <a:xfrm flipH="1">
              <a:off x="9359075" y="4022825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63" name="Google Shape;263;p22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264" name="Google Shape;264;p22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" name="Google Shape;265;p22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3"/>
          <p:cNvGrpSpPr/>
          <p:nvPr/>
        </p:nvGrpSpPr>
        <p:grpSpPr>
          <a:xfrm rot="10800000">
            <a:off x="146400" y="82500"/>
            <a:ext cx="2989125" cy="4123875"/>
            <a:chOff x="6666350" y="917675"/>
            <a:chExt cx="2989125" cy="4123875"/>
          </a:xfrm>
        </p:grpSpPr>
        <p:sp>
          <p:nvSpPr>
            <p:cNvPr id="268" name="Google Shape;268;p23"/>
            <p:cNvSpPr/>
            <p:nvPr/>
          </p:nvSpPr>
          <p:spPr>
            <a:xfrm flipH="1">
              <a:off x="9428675" y="39380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9" name="Google Shape;269;p23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0" name="Google Shape;270;p23"/>
            <p:cNvSpPr/>
            <p:nvPr/>
          </p:nvSpPr>
          <p:spPr>
            <a:xfrm flipH="1">
              <a:off x="8676125" y="492770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1" name="Google Shape;271;p23"/>
            <p:cNvSpPr/>
            <p:nvPr/>
          </p:nvSpPr>
          <p:spPr>
            <a:xfrm flipH="1">
              <a:off x="6666350" y="47943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2" name="Google Shape;272;p23"/>
            <p:cNvSpPr/>
            <p:nvPr/>
          </p:nvSpPr>
          <p:spPr>
            <a:xfrm flipH="1">
              <a:off x="9190475" y="917675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73" name="Google Shape;273;p23"/>
          <p:cNvGrpSpPr/>
          <p:nvPr/>
        </p:nvGrpSpPr>
        <p:grpSpPr>
          <a:xfrm flipH="1">
            <a:off x="-22200" y="-9725"/>
            <a:ext cx="9188400" cy="5153273"/>
            <a:chOff x="-100" y="-9725"/>
            <a:chExt cx="9188400" cy="5143500"/>
          </a:xfrm>
        </p:grpSpPr>
        <p:cxnSp>
          <p:nvCxnSpPr>
            <p:cNvPr id="274" name="Google Shape;274;p2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2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6" r:id="rId5"/>
    <p:sldLayoutId id="2147483658" r:id="rId6"/>
    <p:sldLayoutId id="2147483659" r:id="rId7"/>
    <p:sldLayoutId id="2147483663" r:id="rId8"/>
    <p:sldLayoutId id="2147483664" r:id="rId9"/>
    <p:sldLayoutId id="2147483665" r:id="rId10"/>
    <p:sldLayoutId id="2147483667" r:id="rId11"/>
    <p:sldLayoutId id="2147483668" r:id="rId12"/>
    <p:sldLayoutId id="2147483669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>
            <a:spLocks noGrp="1"/>
          </p:cNvSpPr>
          <p:nvPr>
            <p:ph type="ctrTitle"/>
          </p:nvPr>
        </p:nvSpPr>
        <p:spPr>
          <a:xfrm>
            <a:off x="3898750" y="101587"/>
            <a:ext cx="4532100" cy="20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Big Data Analytics  </a:t>
            </a:r>
            <a:endParaRPr b="1" dirty="0"/>
          </a:p>
        </p:txBody>
      </p:sp>
      <p:sp>
        <p:nvSpPr>
          <p:cNvPr id="287" name="Google Shape;287;p27"/>
          <p:cNvSpPr txBox="1">
            <a:spLocks noGrp="1"/>
          </p:cNvSpPr>
          <p:nvPr>
            <p:ph type="subTitle" idx="1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Nguyen Dong Hai-24072183</a:t>
            </a:r>
            <a:endParaRPr dirty="0"/>
          </a:p>
        </p:txBody>
      </p:sp>
      <p:pic>
        <p:nvPicPr>
          <p:cNvPr id="288" name="Google Shape;2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888" y="757212"/>
            <a:ext cx="3117649" cy="356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569C14-3097-CBDF-6F17-24238D4B5345}"/>
              </a:ext>
            </a:extLst>
          </p:cNvPr>
          <p:cNvSpPr txBox="1"/>
          <p:nvPr/>
        </p:nvSpPr>
        <p:spPr>
          <a:xfrm>
            <a:off x="3969689" y="2246586"/>
            <a:ext cx="46952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Personalized Healthcare Analytics with Wearable Data</a:t>
            </a:r>
            <a:endParaRPr lang="LID4096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08" name="Google Shape;308;p29"/>
          <p:cNvSpPr txBox="1">
            <a:spLocks noGrp="1"/>
          </p:cNvSpPr>
          <p:nvPr>
            <p:ph type="title" idx="2"/>
          </p:nvPr>
        </p:nvSpPr>
        <p:spPr>
          <a:xfrm>
            <a:off x="161865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9" name="Google Shape;309;p29"/>
          <p:cNvSpPr txBox="1">
            <a:spLocks noGrp="1"/>
          </p:cNvSpPr>
          <p:nvPr>
            <p:ph type="title" idx="3"/>
          </p:nvPr>
        </p:nvSpPr>
        <p:spPr>
          <a:xfrm>
            <a:off x="1618650" y="29142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title" idx="4"/>
          </p:nvPr>
        </p:nvSpPr>
        <p:spPr>
          <a:xfrm>
            <a:off x="420465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1" name="Google Shape;311;p29"/>
          <p:cNvSpPr txBox="1">
            <a:spLocks noGrp="1"/>
          </p:cNvSpPr>
          <p:nvPr>
            <p:ph type="title" idx="5"/>
          </p:nvPr>
        </p:nvSpPr>
        <p:spPr>
          <a:xfrm>
            <a:off x="4204650" y="29142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12" name="Google Shape;312;p29"/>
          <p:cNvSpPr txBox="1">
            <a:spLocks noGrp="1"/>
          </p:cNvSpPr>
          <p:nvPr>
            <p:ph type="title" idx="6"/>
          </p:nvPr>
        </p:nvSpPr>
        <p:spPr>
          <a:xfrm>
            <a:off x="679065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4" name="Google Shape;314;p29"/>
          <p:cNvSpPr txBox="1">
            <a:spLocks noGrp="1"/>
          </p:cNvSpPr>
          <p:nvPr>
            <p:ph type="subTitle" idx="1"/>
          </p:nvPr>
        </p:nvSpPr>
        <p:spPr>
          <a:xfrm>
            <a:off x="720000" y="1959025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315" name="Google Shape;315;p29"/>
          <p:cNvSpPr txBox="1">
            <a:spLocks noGrp="1"/>
          </p:cNvSpPr>
          <p:nvPr>
            <p:ph type="subTitle" idx="8"/>
          </p:nvPr>
        </p:nvSpPr>
        <p:spPr>
          <a:xfrm>
            <a:off x="3306000" y="1959025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316" name="Google Shape;316;p29"/>
          <p:cNvSpPr txBox="1">
            <a:spLocks noGrp="1"/>
          </p:cNvSpPr>
          <p:nvPr>
            <p:ph type="subTitle" idx="9"/>
          </p:nvPr>
        </p:nvSpPr>
        <p:spPr>
          <a:xfrm>
            <a:off x="5892000" y="1959025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Architecture</a:t>
            </a:r>
            <a:endParaRPr dirty="0"/>
          </a:p>
        </p:txBody>
      </p:sp>
      <p:sp>
        <p:nvSpPr>
          <p:cNvPr id="317" name="Google Shape;317;p29"/>
          <p:cNvSpPr txBox="1">
            <a:spLocks noGrp="1"/>
          </p:cNvSpPr>
          <p:nvPr>
            <p:ph type="subTitle" idx="13"/>
          </p:nvPr>
        </p:nvSpPr>
        <p:spPr>
          <a:xfrm>
            <a:off x="720000" y="3391139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b="1" dirty="0"/>
              <a:t>Results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8" name="Google Shape;318;p29"/>
          <p:cNvSpPr txBox="1">
            <a:spLocks noGrp="1"/>
          </p:cNvSpPr>
          <p:nvPr>
            <p:ph type="subTitle" idx="14"/>
          </p:nvPr>
        </p:nvSpPr>
        <p:spPr>
          <a:xfrm>
            <a:off x="3306000" y="3391139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4" name="Google Shape;334;p31"/>
          <p:cNvSpPr txBox="1">
            <a:spLocks noGrp="1"/>
          </p:cNvSpPr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fia Sans"/>
                <a:ea typeface="Sofia Sans"/>
                <a:cs typeface="Sofia Sans"/>
                <a:sym typeface="Sofia Sans"/>
              </a:rPr>
              <a:t>Objectives</a:t>
            </a:r>
            <a:endParaRPr b="1">
              <a:latin typeface="Sofia Sans"/>
              <a:ea typeface="Sofia Sans"/>
              <a:cs typeface="Sofia Sans"/>
              <a:sym typeface="Sofi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fia Sans"/>
                <a:ea typeface="Sofia Sans"/>
                <a:cs typeface="Sofia Sans"/>
                <a:sym typeface="Sofia Sans"/>
              </a:rPr>
              <a:t>of the project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35" name="Google Shape;335;p31"/>
          <p:cNvSpPr txBox="1">
            <a:spLocks noGrp="1"/>
          </p:cNvSpPr>
          <p:nvPr>
            <p:ph type="title" idx="2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36" name="Google Shape;3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50" y="2200486"/>
            <a:ext cx="3524400" cy="2861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31"/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338" name="Google Shape;338;p31"/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39" name="Google Shape;339;p31"/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>
            <a:spLocks noGrp="1"/>
          </p:cNvSpPr>
          <p:nvPr>
            <p:ph type="subTitle" idx="4"/>
          </p:nvPr>
        </p:nvSpPr>
        <p:spPr>
          <a:xfrm>
            <a:off x="1342075" y="2886309"/>
            <a:ext cx="3654131" cy="4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goal</a:t>
            </a:r>
            <a:endParaRPr dirty="0"/>
          </a:p>
        </p:txBody>
      </p:sp>
      <p:sp>
        <p:nvSpPr>
          <p:cNvPr id="345" name="Google Shape;345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346" name="Google Shape;346;p32"/>
          <p:cNvSpPr txBox="1">
            <a:spLocks noGrp="1"/>
          </p:cNvSpPr>
          <p:nvPr>
            <p:ph type="subTitle" idx="1"/>
          </p:nvPr>
        </p:nvSpPr>
        <p:spPr>
          <a:xfrm>
            <a:off x="1342074" y="3255050"/>
            <a:ext cx="3654131" cy="12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Fitbit data for health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Cluster users based on activity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 behavioral anomalies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an interactive visualization dashboard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9" name="Google Shape;349;p32"/>
          <p:cNvSpPr/>
          <p:nvPr/>
        </p:nvSpPr>
        <p:spPr>
          <a:xfrm rot="10800000" flipH="1">
            <a:off x="5620375" y="31867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0" name="Google Shape;350;p32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1" name="Google Shape;351;p32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52" name="Google Shape;35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5820" y="1306800"/>
            <a:ext cx="1872803" cy="325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7F0D2931-F792-5189-999B-55C73631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>
            <a:extLst>
              <a:ext uri="{FF2B5EF4-FFF2-40B4-BE49-F238E27FC236}">
                <a16:creationId xmlns:a16="http://schemas.microsoft.com/office/drawing/2014/main" id="{FC02BB08-27A0-5BD0-8A8D-0497F4E38025}"/>
              </a:ext>
            </a:extLst>
          </p:cNvPr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4" name="Google Shape;334;p31">
            <a:extLst>
              <a:ext uri="{FF2B5EF4-FFF2-40B4-BE49-F238E27FC236}">
                <a16:creationId xmlns:a16="http://schemas.microsoft.com/office/drawing/2014/main" id="{D2C55F9B-BF7D-DBF2-5CA3-4828219E64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</a:t>
            </a:r>
            <a:r>
              <a:rPr lang="en" dirty="0">
                <a:latin typeface="Sofia Sans"/>
                <a:ea typeface="Sofia Sans"/>
                <a:cs typeface="Sofia Sans"/>
                <a:sym typeface="Sofia Sans"/>
              </a:rPr>
              <a:t>of the project</a:t>
            </a:r>
            <a:endParaRPr dirty="0"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35" name="Google Shape;335;p31">
            <a:extLst>
              <a:ext uri="{FF2B5EF4-FFF2-40B4-BE49-F238E27FC236}">
                <a16:creationId xmlns:a16="http://schemas.microsoft.com/office/drawing/2014/main" id="{67846E58-2422-6208-6EB4-58634822C7A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336" name="Google Shape;336;p31">
            <a:extLst>
              <a:ext uri="{FF2B5EF4-FFF2-40B4-BE49-F238E27FC236}">
                <a16:creationId xmlns:a16="http://schemas.microsoft.com/office/drawing/2014/main" id="{A6D371BC-E8B4-2C57-A6A1-B48313E8FD9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50" y="2200486"/>
            <a:ext cx="3524400" cy="2861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31">
            <a:extLst>
              <a:ext uri="{FF2B5EF4-FFF2-40B4-BE49-F238E27FC236}">
                <a16:creationId xmlns:a16="http://schemas.microsoft.com/office/drawing/2014/main" id="{9A2E0D32-7654-E96C-DE47-08C5C63E1F53}"/>
              </a:ext>
            </a:extLst>
          </p:cNvPr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338" name="Google Shape;338;p31">
              <a:extLst>
                <a:ext uri="{FF2B5EF4-FFF2-40B4-BE49-F238E27FC236}">
                  <a16:creationId xmlns:a16="http://schemas.microsoft.com/office/drawing/2014/main" id="{D9EBDB44-8C88-803B-3953-A1239911FAF0}"/>
                </a:ext>
              </a:extLst>
            </p:cNvPr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39" name="Google Shape;339;p31">
              <a:extLst>
                <a:ext uri="{FF2B5EF4-FFF2-40B4-BE49-F238E27FC236}">
                  <a16:creationId xmlns:a16="http://schemas.microsoft.com/office/drawing/2014/main" id="{8E0AEE68-8F70-77D1-FCD1-21DE425E0409}"/>
                </a:ext>
              </a:extLst>
            </p:cNvPr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6221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"/>
          <p:cNvSpPr txBox="1">
            <a:spLocks noGrp="1"/>
          </p:cNvSpPr>
          <p:nvPr>
            <p:ph type="title"/>
          </p:nvPr>
        </p:nvSpPr>
        <p:spPr>
          <a:xfrm>
            <a:off x="757708" y="45445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Techniques Used</a:t>
            </a:r>
            <a:endParaRPr dirty="0"/>
          </a:p>
        </p:txBody>
      </p:sp>
      <p:sp>
        <p:nvSpPr>
          <p:cNvPr id="358" name="Google Shape;358;p33"/>
          <p:cNvSpPr txBox="1">
            <a:spLocks noGrp="1"/>
          </p:cNvSpPr>
          <p:nvPr>
            <p:ph type="subTitle" idx="4"/>
          </p:nvPr>
        </p:nvSpPr>
        <p:spPr>
          <a:xfrm>
            <a:off x="155201" y="1673527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Preprocessing</a:t>
            </a:r>
            <a:r>
              <a:rPr lang="en-US" dirty="0"/>
              <a:t> with Pandas</a:t>
            </a:r>
          </a:p>
        </p:txBody>
      </p:sp>
      <p:sp>
        <p:nvSpPr>
          <p:cNvPr id="359" name="Google Shape;359;p33"/>
          <p:cNvSpPr txBox="1">
            <a:spLocks noGrp="1"/>
          </p:cNvSpPr>
          <p:nvPr>
            <p:ph type="subTitle" idx="5"/>
          </p:nvPr>
        </p:nvSpPr>
        <p:spPr>
          <a:xfrm>
            <a:off x="2515174" y="1669898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Clustering</a:t>
            </a:r>
            <a:r>
              <a:rPr lang="en-US" dirty="0"/>
              <a:t> using </a:t>
            </a:r>
            <a:r>
              <a:rPr lang="en-US" dirty="0" err="1"/>
              <a:t>KMeans</a:t>
            </a:r>
            <a:endParaRPr dirty="0"/>
          </a:p>
        </p:txBody>
      </p:sp>
      <p:sp>
        <p:nvSpPr>
          <p:cNvPr id="360" name="Google Shape;360;p33"/>
          <p:cNvSpPr txBox="1">
            <a:spLocks noGrp="1"/>
          </p:cNvSpPr>
          <p:nvPr>
            <p:ph type="subTitle" idx="1"/>
          </p:nvPr>
        </p:nvSpPr>
        <p:spPr>
          <a:xfrm>
            <a:off x="155201" y="2052742"/>
            <a:ext cx="21753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Cleaned, transformed, and prepared Fitbit data for analysis</a:t>
            </a:r>
            <a:endParaRPr dirty="0"/>
          </a:p>
        </p:txBody>
      </p:sp>
      <p:sp>
        <p:nvSpPr>
          <p:cNvPr id="361" name="Google Shape;361;p33"/>
          <p:cNvSpPr txBox="1">
            <a:spLocks noGrp="1"/>
          </p:cNvSpPr>
          <p:nvPr>
            <p:ph type="subTitle" idx="2"/>
          </p:nvPr>
        </p:nvSpPr>
        <p:spPr>
          <a:xfrm>
            <a:off x="2515174" y="2052742"/>
            <a:ext cx="21753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Grouped users into Low, Moderate, and High activity levels</a:t>
            </a:r>
            <a:endParaRPr dirty="0"/>
          </a:p>
        </p:txBody>
      </p:sp>
      <p:sp>
        <p:nvSpPr>
          <p:cNvPr id="362" name="Google Shape;362;p33"/>
          <p:cNvSpPr txBox="1">
            <a:spLocks noGrp="1"/>
          </p:cNvSpPr>
          <p:nvPr>
            <p:ph type="subTitle" idx="3"/>
          </p:nvPr>
        </p:nvSpPr>
        <p:spPr>
          <a:xfrm>
            <a:off x="4878266" y="2027407"/>
            <a:ext cx="21753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Flagged unusually high or low daily step counts</a:t>
            </a:r>
            <a:endParaRPr dirty="0"/>
          </a:p>
        </p:txBody>
      </p:sp>
      <p:sp>
        <p:nvSpPr>
          <p:cNvPr id="363" name="Google Shape;363;p33"/>
          <p:cNvSpPr txBox="1">
            <a:spLocks noGrp="1"/>
          </p:cNvSpPr>
          <p:nvPr>
            <p:ph type="subTitle" idx="6"/>
          </p:nvPr>
        </p:nvSpPr>
        <p:spPr>
          <a:xfrm>
            <a:off x="4878266" y="1669898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Anomaly Detection</a:t>
            </a:r>
            <a:r>
              <a:rPr lang="en-US" dirty="0"/>
              <a:t> with IQR method</a:t>
            </a:r>
            <a:endParaRPr dirty="0"/>
          </a:p>
        </p:txBody>
      </p:sp>
      <p:sp>
        <p:nvSpPr>
          <p:cNvPr id="4" name="Google Shape;363;p33">
            <a:extLst>
              <a:ext uri="{FF2B5EF4-FFF2-40B4-BE49-F238E27FC236}">
                <a16:creationId xmlns:a16="http://schemas.microsoft.com/office/drawing/2014/main" id="{96F4C731-7446-4F04-F9B2-368486CAE431}"/>
              </a:ext>
            </a:extLst>
          </p:cNvPr>
          <p:cNvSpPr txBox="1">
            <a:spLocks/>
          </p:cNvSpPr>
          <p:nvPr/>
        </p:nvSpPr>
        <p:spPr>
          <a:xfrm>
            <a:off x="7053566" y="1669898"/>
            <a:ext cx="2175300" cy="4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b="1" dirty="0"/>
              <a:t>Dashboard</a:t>
            </a:r>
            <a:r>
              <a:rPr lang="en-US" dirty="0"/>
              <a:t> built with </a:t>
            </a:r>
            <a:r>
              <a:rPr lang="en-US" dirty="0" err="1"/>
              <a:t>Streamlit</a:t>
            </a:r>
            <a:endParaRPr lang="en-US" dirty="0"/>
          </a:p>
        </p:txBody>
      </p:sp>
      <p:sp>
        <p:nvSpPr>
          <p:cNvPr id="7" name="Google Shape;362;p33">
            <a:extLst>
              <a:ext uri="{FF2B5EF4-FFF2-40B4-BE49-F238E27FC236}">
                <a16:creationId xmlns:a16="http://schemas.microsoft.com/office/drawing/2014/main" id="{2E529ABD-0590-7B3F-9883-C2E7E2D4C66C}"/>
              </a:ext>
            </a:extLst>
          </p:cNvPr>
          <p:cNvSpPr txBox="1">
            <a:spLocks/>
          </p:cNvSpPr>
          <p:nvPr/>
        </p:nvSpPr>
        <p:spPr>
          <a:xfrm>
            <a:off x="6888917" y="2069828"/>
            <a:ext cx="2175300" cy="20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indent="0"/>
            <a:r>
              <a:rPr lang="en-US" dirty="0"/>
              <a:t>Interactive web app for visualizing personalized health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DC5B3EFA-820B-D603-6998-26A9BC05B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>
            <a:extLst>
              <a:ext uri="{FF2B5EF4-FFF2-40B4-BE49-F238E27FC236}">
                <a16:creationId xmlns:a16="http://schemas.microsoft.com/office/drawing/2014/main" id="{35EC189C-AFC5-2EB0-74DB-F86401E2AAA1}"/>
              </a:ext>
            </a:extLst>
          </p:cNvPr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4" name="Google Shape;334;p31">
            <a:extLst>
              <a:ext uri="{FF2B5EF4-FFF2-40B4-BE49-F238E27FC236}">
                <a16:creationId xmlns:a16="http://schemas.microsoft.com/office/drawing/2014/main" id="{5FBAE427-4CAB-36CD-5F0F-55D5A8001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Architecture</a:t>
            </a:r>
            <a:r>
              <a:rPr lang="en" dirty="0">
                <a:latin typeface="Sofia Sans"/>
                <a:ea typeface="Sofia Sans"/>
                <a:cs typeface="Sofia Sans"/>
                <a:sym typeface="Sofia Sans"/>
              </a:rPr>
              <a:t>of the project</a:t>
            </a:r>
            <a:endParaRPr dirty="0"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35" name="Google Shape;335;p31">
            <a:extLst>
              <a:ext uri="{FF2B5EF4-FFF2-40B4-BE49-F238E27FC236}">
                <a16:creationId xmlns:a16="http://schemas.microsoft.com/office/drawing/2014/main" id="{AFFE4F68-CAF7-B339-916A-EE188FB135F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336" name="Google Shape;336;p31">
            <a:extLst>
              <a:ext uri="{FF2B5EF4-FFF2-40B4-BE49-F238E27FC236}">
                <a16:creationId xmlns:a16="http://schemas.microsoft.com/office/drawing/2014/main" id="{BDD2D4F4-7D8F-138D-51F1-58EAC43585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50" y="2200486"/>
            <a:ext cx="3524400" cy="2861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31">
            <a:extLst>
              <a:ext uri="{FF2B5EF4-FFF2-40B4-BE49-F238E27FC236}">
                <a16:creationId xmlns:a16="http://schemas.microsoft.com/office/drawing/2014/main" id="{E6747329-5FA6-88FB-220E-6DD66B1BD0F9}"/>
              </a:ext>
            </a:extLst>
          </p:cNvPr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338" name="Google Shape;338;p31">
              <a:extLst>
                <a:ext uri="{FF2B5EF4-FFF2-40B4-BE49-F238E27FC236}">
                  <a16:creationId xmlns:a16="http://schemas.microsoft.com/office/drawing/2014/main" id="{8023FAFF-8A8B-1FE7-DBDC-3BEF2A80EF35}"/>
                </a:ext>
              </a:extLst>
            </p:cNvPr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39" name="Google Shape;339;p31">
              <a:extLst>
                <a:ext uri="{FF2B5EF4-FFF2-40B4-BE49-F238E27FC236}">
                  <a16:creationId xmlns:a16="http://schemas.microsoft.com/office/drawing/2014/main" id="{C60F3E3F-5D76-872D-ECE0-F2F70759D247}"/>
                </a:ext>
              </a:extLst>
            </p:cNvPr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9203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>
            <a:spLocks noGrp="1"/>
          </p:cNvSpPr>
          <p:nvPr>
            <p:ph type="subTitle" idx="6"/>
          </p:nvPr>
        </p:nvSpPr>
        <p:spPr>
          <a:xfrm>
            <a:off x="1067574" y="2605121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Feature Engineering</a:t>
            </a:r>
            <a:endParaRPr dirty="0"/>
          </a:p>
        </p:txBody>
      </p:sp>
      <p:sp>
        <p:nvSpPr>
          <p:cNvPr id="369" name="Google Shape;369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Architecture-Flow of data</a:t>
            </a:r>
            <a:endParaRPr dirty="0"/>
          </a:p>
        </p:txBody>
      </p:sp>
      <p:sp>
        <p:nvSpPr>
          <p:cNvPr id="370" name="Google Shape;370;p34"/>
          <p:cNvSpPr txBox="1">
            <a:spLocks noGrp="1"/>
          </p:cNvSpPr>
          <p:nvPr>
            <p:ph type="subTitle" idx="1"/>
          </p:nvPr>
        </p:nvSpPr>
        <p:spPr>
          <a:xfrm>
            <a:off x="499621" y="1671136"/>
            <a:ext cx="3816353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Collected from a publicly available dataset on Kaggle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Includes daily metrics: steps, calories, active minutes, and more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34"/>
          <p:cNvSpPr txBox="1">
            <a:spLocks noGrp="1"/>
          </p:cNvSpPr>
          <p:nvPr>
            <p:ph type="subTitle" idx="2"/>
          </p:nvPr>
        </p:nvSpPr>
        <p:spPr>
          <a:xfrm>
            <a:off x="4572000" y="1671136"/>
            <a:ext cx="3504426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Converted </a:t>
            </a:r>
            <a:r>
              <a:rPr lang="en-US" dirty="0" err="1"/>
              <a:t>ActivityDate</a:t>
            </a:r>
            <a:r>
              <a:rPr lang="en-US" dirty="0"/>
              <a:t> to datetime format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Removed duplicates and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Selected relevant columns for analysis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74" name="Google Shape;374;p34"/>
          <p:cNvSpPr txBox="1">
            <a:spLocks noGrp="1"/>
          </p:cNvSpPr>
          <p:nvPr>
            <p:ph type="subTitle" idx="5"/>
          </p:nvPr>
        </p:nvSpPr>
        <p:spPr>
          <a:xfrm>
            <a:off x="1067574" y="1330575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Raw Fitbit CSV</a:t>
            </a:r>
            <a:endParaRPr dirty="0"/>
          </a:p>
        </p:txBody>
      </p:sp>
      <p:sp>
        <p:nvSpPr>
          <p:cNvPr id="375" name="Google Shape;375;p34"/>
          <p:cNvSpPr txBox="1">
            <a:spLocks noGrp="1"/>
          </p:cNvSpPr>
          <p:nvPr>
            <p:ph type="subTitle" idx="7"/>
          </p:nvPr>
        </p:nvSpPr>
        <p:spPr>
          <a:xfrm>
            <a:off x="4827998" y="1330575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Preprocessing</a:t>
            </a:r>
            <a:endParaRPr dirty="0"/>
          </a:p>
        </p:txBody>
      </p:sp>
      <p:sp>
        <p:nvSpPr>
          <p:cNvPr id="376" name="Google Shape;376;p34"/>
          <p:cNvSpPr txBox="1">
            <a:spLocks noGrp="1"/>
          </p:cNvSpPr>
          <p:nvPr>
            <p:ph type="subTitle" idx="8"/>
          </p:nvPr>
        </p:nvSpPr>
        <p:spPr>
          <a:xfrm>
            <a:off x="4700013" y="2605121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Clustering (</a:t>
            </a:r>
            <a:r>
              <a:rPr lang="en-US" dirty="0" err="1"/>
              <a:t>KMeans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9" name="Google Shape;370;p34">
            <a:extLst>
              <a:ext uri="{FF2B5EF4-FFF2-40B4-BE49-F238E27FC236}">
                <a16:creationId xmlns:a16="http://schemas.microsoft.com/office/drawing/2014/main" id="{84F889D6-EF8A-3FEF-5E6D-AF61E20D3EFC}"/>
              </a:ext>
            </a:extLst>
          </p:cNvPr>
          <p:cNvSpPr txBox="1">
            <a:spLocks/>
          </p:cNvSpPr>
          <p:nvPr/>
        </p:nvSpPr>
        <p:spPr>
          <a:xfrm>
            <a:off x="499621" y="2895627"/>
            <a:ext cx="3816353" cy="12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Focused on key variables:</a:t>
            </a:r>
            <a:br>
              <a:rPr lang="en-US" dirty="0"/>
            </a:br>
            <a:r>
              <a:rPr lang="en-US" dirty="0" err="1"/>
              <a:t>TotalSteps</a:t>
            </a:r>
            <a:r>
              <a:rPr lang="en-US" dirty="0"/>
              <a:t>, Calories, </a:t>
            </a:r>
            <a:r>
              <a:rPr lang="en-US" dirty="0" err="1"/>
              <a:t>VeryActiveMinutes</a:t>
            </a:r>
            <a:r>
              <a:rPr lang="en-US" dirty="0"/>
              <a:t>, </a:t>
            </a:r>
            <a:r>
              <a:rPr lang="en-US" dirty="0" err="1"/>
              <a:t>SedentaryMinutes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Scaled and transformed features for clustering</a:t>
            </a:r>
          </a:p>
        </p:txBody>
      </p:sp>
      <p:sp>
        <p:nvSpPr>
          <p:cNvPr id="10" name="Google Shape;370;p34">
            <a:extLst>
              <a:ext uri="{FF2B5EF4-FFF2-40B4-BE49-F238E27FC236}">
                <a16:creationId xmlns:a16="http://schemas.microsoft.com/office/drawing/2014/main" id="{7F4FFEED-29AE-4D7C-C70F-8DBF97FE2107}"/>
              </a:ext>
            </a:extLst>
          </p:cNvPr>
          <p:cNvSpPr txBox="1">
            <a:spLocks/>
          </p:cNvSpPr>
          <p:nvPr/>
        </p:nvSpPr>
        <p:spPr>
          <a:xfrm>
            <a:off x="4315974" y="2895627"/>
            <a:ext cx="4328405" cy="12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/>
              <a:t>Applied </a:t>
            </a:r>
            <a:r>
              <a:rPr lang="en-US" dirty="0" err="1"/>
              <a:t>KMeans</a:t>
            </a:r>
            <a:r>
              <a:rPr lang="en-US" dirty="0"/>
              <a:t> algorithm with k=3 to identify: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dirty="0"/>
              <a:t>Low Activity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dirty="0"/>
              <a:t>Moderate Activity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en-US" dirty="0"/>
              <a:t>High Activity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/>
              <a:t>Assigned cluster labels to each user-day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A08471E9-B11A-3848-C08A-2C1F67A9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">
            <a:extLst>
              <a:ext uri="{FF2B5EF4-FFF2-40B4-BE49-F238E27FC236}">
                <a16:creationId xmlns:a16="http://schemas.microsoft.com/office/drawing/2014/main" id="{702157ED-DD85-2566-BE4A-D8D5BD2789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Architecture-Flow of data</a:t>
            </a:r>
            <a:endParaRPr dirty="0"/>
          </a:p>
        </p:txBody>
      </p:sp>
      <p:sp>
        <p:nvSpPr>
          <p:cNvPr id="382" name="Google Shape;382;p35">
            <a:extLst>
              <a:ext uri="{FF2B5EF4-FFF2-40B4-BE49-F238E27FC236}">
                <a16:creationId xmlns:a16="http://schemas.microsoft.com/office/drawing/2014/main" id="{62DEAA3B-D095-A6CE-06AA-86B5887565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01278" y="1616196"/>
            <a:ext cx="3506771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Computed 5th and 95th percentiles of </a:t>
            </a:r>
            <a:r>
              <a:rPr lang="en-US" dirty="0" err="1"/>
              <a:t>TotalSteps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Flagged outlier days as anomalies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detect unusual user behavior or sensor errors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86" name="Google Shape;386;p35">
            <a:extLst>
              <a:ext uri="{FF2B5EF4-FFF2-40B4-BE49-F238E27FC236}">
                <a16:creationId xmlns:a16="http://schemas.microsoft.com/office/drawing/2014/main" id="{C4D0FEF9-B8CC-52A7-1194-4EBB1FAF4097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035375" y="1312275"/>
            <a:ext cx="2742372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/>
              <a:t>Anomaly Detection (IQR)</a:t>
            </a:r>
          </a:p>
        </p:txBody>
      </p:sp>
      <p:sp>
        <p:nvSpPr>
          <p:cNvPr id="388" name="Google Shape;388;p35">
            <a:extLst>
              <a:ext uri="{FF2B5EF4-FFF2-40B4-BE49-F238E27FC236}">
                <a16:creationId xmlns:a16="http://schemas.microsoft.com/office/drawing/2014/main" id="{3D150395-87E4-62FB-D9DA-8DD8833A66C1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363852" y="1312275"/>
            <a:ext cx="2742373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/>
              <a:t>Visualization (</a:t>
            </a:r>
            <a:r>
              <a:rPr lang="en-US" dirty="0" err="1"/>
              <a:t>Streamlit</a:t>
            </a:r>
            <a:r>
              <a:rPr lang="en-US" dirty="0"/>
              <a:t>)</a:t>
            </a:r>
          </a:p>
        </p:txBody>
      </p:sp>
      <p:sp>
        <p:nvSpPr>
          <p:cNvPr id="389" name="Google Shape;389;p35">
            <a:extLst>
              <a:ext uri="{FF2B5EF4-FFF2-40B4-BE49-F238E27FC236}">
                <a16:creationId xmlns:a16="http://schemas.microsoft.com/office/drawing/2014/main" id="{223306FC-2895-50C8-07A0-19E1955DF43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421171" y="1616196"/>
            <a:ext cx="3687454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a clean and interactive web 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user-level data exploration and trend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Tabs: Overview, Trends, Segmentation, Anomalies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3404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65E2FA24-B7AB-78F4-A718-CF13173A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>
            <a:extLst>
              <a:ext uri="{FF2B5EF4-FFF2-40B4-BE49-F238E27FC236}">
                <a16:creationId xmlns:a16="http://schemas.microsoft.com/office/drawing/2014/main" id="{3FB965AC-29D2-C8D3-D1B6-4965CD081F8D}"/>
              </a:ext>
            </a:extLst>
          </p:cNvPr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4" name="Google Shape;334;p31">
            <a:extLst>
              <a:ext uri="{FF2B5EF4-FFF2-40B4-BE49-F238E27FC236}">
                <a16:creationId xmlns:a16="http://schemas.microsoft.com/office/drawing/2014/main" id="{032B6CBD-CA82-5EFA-B8F1-4BF41C8342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 </a:t>
            </a:r>
            <a:r>
              <a:rPr lang="en" dirty="0">
                <a:latin typeface="Sofia Sans"/>
                <a:ea typeface="Sofia Sans"/>
                <a:cs typeface="Sofia Sans"/>
                <a:sym typeface="Sofia Sans"/>
              </a:rPr>
              <a:t>of the project</a:t>
            </a:r>
            <a:endParaRPr dirty="0"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35" name="Google Shape;335;p31">
            <a:extLst>
              <a:ext uri="{FF2B5EF4-FFF2-40B4-BE49-F238E27FC236}">
                <a16:creationId xmlns:a16="http://schemas.microsoft.com/office/drawing/2014/main" id="{3F0688B4-2583-D03D-8AB7-2807F9ED199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336" name="Google Shape;336;p31">
            <a:extLst>
              <a:ext uri="{FF2B5EF4-FFF2-40B4-BE49-F238E27FC236}">
                <a16:creationId xmlns:a16="http://schemas.microsoft.com/office/drawing/2014/main" id="{646246AE-9F91-E24A-A16D-A386A864B2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50" y="2200486"/>
            <a:ext cx="3524400" cy="2861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31">
            <a:extLst>
              <a:ext uri="{FF2B5EF4-FFF2-40B4-BE49-F238E27FC236}">
                <a16:creationId xmlns:a16="http://schemas.microsoft.com/office/drawing/2014/main" id="{99F87448-1A49-7607-54C4-077E250C4550}"/>
              </a:ext>
            </a:extLst>
          </p:cNvPr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338" name="Google Shape;338;p31">
              <a:extLst>
                <a:ext uri="{FF2B5EF4-FFF2-40B4-BE49-F238E27FC236}">
                  <a16:creationId xmlns:a16="http://schemas.microsoft.com/office/drawing/2014/main" id="{A5C5B387-303C-42E2-150F-97E10BFE5E35}"/>
                </a:ext>
              </a:extLst>
            </p:cNvPr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39" name="Google Shape;339;p31">
              <a:extLst>
                <a:ext uri="{FF2B5EF4-FFF2-40B4-BE49-F238E27FC236}">
                  <a16:creationId xmlns:a16="http://schemas.microsoft.com/office/drawing/2014/main" id="{BF93136D-5646-1F85-F9E1-F39C729F7792}"/>
                </a:ext>
              </a:extLst>
            </p:cNvPr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0693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6DAC-B600-4538-1AF8-A87B9529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F551C5-6DA1-6274-4693-6090265F6EBF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803D1-1AB4-D8C4-181F-C21B2F5C8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5"/>
            <a:ext cx="7772400" cy="51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06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3C8F-C683-5858-68C0-1BE11B31D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7A789E-1853-B1EF-2C88-4C71BCA875E5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A39AD-9D32-0F4E-B2A0-E7DC5DEE9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5"/>
            <a:ext cx="7772400" cy="51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34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BB157-40FB-0464-DFC4-96FC9F9B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827590-0ABC-3BCF-209C-A864A76BECAF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9E7A4-FF30-3DD4-3C6B-90AA0C48F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5"/>
            <a:ext cx="7772400" cy="51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57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60E6-8DC8-5A64-C0A3-E30CDE60C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868B31-7F70-D6A7-9094-161E942C0276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7D92E5-4281-7BD0-36F5-790C250EC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42" y="0"/>
            <a:ext cx="75545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44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6BB17E80-D9A6-E0F7-AE6C-7A6E68CCE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>
            <a:extLst>
              <a:ext uri="{FF2B5EF4-FFF2-40B4-BE49-F238E27FC236}">
                <a16:creationId xmlns:a16="http://schemas.microsoft.com/office/drawing/2014/main" id="{9B2771C0-F847-9FA2-4FEC-EE3CCF7DC403}"/>
              </a:ext>
            </a:extLst>
          </p:cNvPr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4" name="Google Shape;334;p31">
            <a:extLst>
              <a:ext uri="{FF2B5EF4-FFF2-40B4-BE49-F238E27FC236}">
                <a16:creationId xmlns:a16="http://schemas.microsoft.com/office/drawing/2014/main" id="{8C771EEE-BE4D-1B9D-2E6D-AAE3A4570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br>
              <a:rPr lang="en-US" dirty="0"/>
            </a:br>
            <a:r>
              <a:rPr lang="en" dirty="0">
                <a:latin typeface="Sofia Sans"/>
                <a:ea typeface="Sofia Sans"/>
                <a:cs typeface="Sofia Sans"/>
                <a:sym typeface="Sofia Sans"/>
              </a:rPr>
              <a:t>of the project</a:t>
            </a:r>
            <a:endParaRPr dirty="0"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35" name="Google Shape;335;p31">
            <a:extLst>
              <a:ext uri="{FF2B5EF4-FFF2-40B4-BE49-F238E27FC236}">
                <a16:creationId xmlns:a16="http://schemas.microsoft.com/office/drawing/2014/main" id="{4108CEE0-A828-2F3C-F0E5-F7EDE560693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pic>
        <p:nvPicPr>
          <p:cNvPr id="336" name="Google Shape;336;p31">
            <a:extLst>
              <a:ext uri="{FF2B5EF4-FFF2-40B4-BE49-F238E27FC236}">
                <a16:creationId xmlns:a16="http://schemas.microsoft.com/office/drawing/2014/main" id="{1F379B1D-3C59-DD11-D12C-1AC3A5D3D4E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50" y="2200486"/>
            <a:ext cx="3524400" cy="2861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31">
            <a:extLst>
              <a:ext uri="{FF2B5EF4-FFF2-40B4-BE49-F238E27FC236}">
                <a16:creationId xmlns:a16="http://schemas.microsoft.com/office/drawing/2014/main" id="{4EDB0F71-3E5A-1755-32F8-997DA62A8E88}"/>
              </a:ext>
            </a:extLst>
          </p:cNvPr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338" name="Google Shape;338;p31">
              <a:extLst>
                <a:ext uri="{FF2B5EF4-FFF2-40B4-BE49-F238E27FC236}">
                  <a16:creationId xmlns:a16="http://schemas.microsoft.com/office/drawing/2014/main" id="{091E634B-612D-460A-1C26-980A21D04425}"/>
                </a:ext>
              </a:extLst>
            </p:cNvPr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39" name="Google Shape;339;p31">
              <a:extLst>
                <a:ext uri="{FF2B5EF4-FFF2-40B4-BE49-F238E27FC236}">
                  <a16:creationId xmlns:a16="http://schemas.microsoft.com/office/drawing/2014/main" id="{CEFA3914-B2DC-A54F-8ED6-3EEAF2ABD5EC}"/>
                </a:ext>
              </a:extLst>
            </p:cNvPr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9194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6"/>
          <p:cNvSpPr/>
          <p:nvPr/>
        </p:nvSpPr>
        <p:spPr>
          <a:xfrm rot="10800000" flipH="1">
            <a:off x="6665750" y="-14519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54" name="Google Shape;554;p46"/>
          <p:cNvSpPr txBox="1">
            <a:spLocks noGrp="1"/>
          </p:cNvSpPr>
          <p:nvPr>
            <p:ph type="title"/>
          </p:nvPr>
        </p:nvSpPr>
        <p:spPr>
          <a:xfrm>
            <a:off x="713225" y="732088"/>
            <a:ext cx="3604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555" name="Google Shape;555;p46"/>
          <p:cNvSpPr txBox="1">
            <a:spLocks noGrp="1"/>
          </p:cNvSpPr>
          <p:nvPr>
            <p:ph type="subTitle" idx="1"/>
          </p:nvPr>
        </p:nvSpPr>
        <p:spPr>
          <a:xfrm>
            <a:off x="713225" y="1689338"/>
            <a:ext cx="36048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 you have any questions?</a:t>
            </a:r>
            <a:endParaRPr b="1" dirty="0"/>
          </a:p>
        </p:txBody>
      </p:sp>
      <p:sp>
        <p:nvSpPr>
          <p:cNvPr id="556" name="Google Shape;556;p46"/>
          <p:cNvSpPr txBox="1"/>
          <p:nvPr/>
        </p:nvSpPr>
        <p:spPr>
          <a:xfrm>
            <a:off x="713225" y="3998625"/>
            <a:ext cx="36048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Please keep this slide for attribution</a:t>
            </a:r>
            <a:endParaRPr sz="10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557" name="Google Shape;55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925" y="784101"/>
            <a:ext cx="3984375" cy="3575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8" name="Google Shape;558;p46"/>
          <p:cNvGrpSpPr/>
          <p:nvPr/>
        </p:nvGrpSpPr>
        <p:grpSpPr>
          <a:xfrm>
            <a:off x="1707949" y="2951920"/>
            <a:ext cx="363314" cy="356576"/>
            <a:chOff x="3763184" y="3817357"/>
            <a:chExt cx="363314" cy="356576"/>
          </a:xfrm>
        </p:grpSpPr>
        <p:sp>
          <p:nvSpPr>
            <p:cNvPr id="559" name="Google Shape;559;p46"/>
            <p:cNvSpPr/>
            <p:nvPr/>
          </p:nvSpPr>
          <p:spPr>
            <a:xfrm>
              <a:off x="3763184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6"/>
            <p:cNvSpPr/>
            <p:nvPr/>
          </p:nvSpPr>
          <p:spPr>
            <a:xfrm>
              <a:off x="3918324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rgbClr val="7B7BBE">
                <a:alpha val="3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3848330" y="3964188"/>
              <a:ext cx="39375" cy="116945"/>
            </a:xfrm>
            <a:custGeom>
              <a:avLst/>
              <a:gdLst/>
              <a:ahLst/>
              <a:cxnLst/>
              <a:rect l="l" t="t" r="r" b="b"/>
              <a:pathLst>
                <a:path w="1502" h="4461" extrusionOk="0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3832418" y="3894403"/>
              <a:ext cx="55287" cy="47475"/>
            </a:xfrm>
            <a:custGeom>
              <a:avLst/>
              <a:gdLst/>
              <a:ahLst/>
              <a:cxnLst/>
              <a:rect l="l" t="t" r="r" b="b"/>
              <a:pathLst>
                <a:path w="2109" h="1811" extrusionOk="0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3925901" y="3964161"/>
              <a:ext cx="124914" cy="117365"/>
            </a:xfrm>
            <a:custGeom>
              <a:avLst/>
              <a:gdLst/>
              <a:ahLst/>
              <a:cxnLst/>
              <a:rect l="l" t="t" r="r" b="b"/>
              <a:pathLst>
                <a:path w="4765" h="4477" extrusionOk="0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4" name="Google Shape;564;p46"/>
          <p:cNvGrpSpPr/>
          <p:nvPr/>
        </p:nvGrpSpPr>
        <p:grpSpPr>
          <a:xfrm>
            <a:off x="1259515" y="2951920"/>
            <a:ext cx="362920" cy="356865"/>
            <a:chOff x="3314750" y="3817357"/>
            <a:chExt cx="362920" cy="356865"/>
          </a:xfrm>
        </p:grpSpPr>
        <p:grpSp>
          <p:nvGrpSpPr>
            <p:cNvPr id="565" name="Google Shape;565;p46"/>
            <p:cNvGrpSpPr/>
            <p:nvPr/>
          </p:nvGrpSpPr>
          <p:grpSpPr>
            <a:xfrm>
              <a:off x="3314750" y="3817357"/>
              <a:ext cx="362920" cy="356865"/>
              <a:chOff x="3314750" y="3817357"/>
              <a:chExt cx="362920" cy="356865"/>
            </a:xfrm>
          </p:grpSpPr>
          <p:sp>
            <p:nvSpPr>
              <p:cNvPr id="566" name="Google Shape;566;p46"/>
              <p:cNvSpPr/>
              <p:nvPr/>
            </p:nvSpPr>
            <p:spPr>
              <a:xfrm>
                <a:off x="3314750" y="3817357"/>
                <a:ext cx="356865" cy="356498"/>
              </a:xfrm>
              <a:custGeom>
                <a:avLst/>
                <a:gdLst/>
                <a:ahLst/>
                <a:cxnLst/>
                <a:rect l="l" t="t" r="r" b="b"/>
                <a:pathLst>
                  <a:path w="13613" h="13599" extrusionOk="0">
                    <a:moveTo>
                      <a:pt x="6814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814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8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46"/>
              <p:cNvSpPr/>
              <p:nvPr/>
            </p:nvSpPr>
            <p:spPr>
              <a:xfrm>
                <a:off x="3469891" y="3817357"/>
                <a:ext cx="207780" cy="356865"/>
              </a:xfrm>
              <a:custGeom>
                <a:avLst/>
                <a:gdLst/>
                <a:ahLst/>
                <a:cxnLst/>
                <a:rect l="l" t="t" r="r" b="b"/>
                <a:pathLst>
                  <a:path w="7926" h="13613" extrusionOk="0">
                    <a:moveTo>
                      <a:pt x="881" y="0"/>
                    </a:moveTo>
                    <a:cubicBezTo>
                      <a:pt x="884" y="0"/>
                      <a:pt x="886" y="0"/>
                      <a:pt x="888" y="0"/>
                    </a:cubicBezTo>
                    <a:lnTo>
                      <a:pt x="888" y="0"/>
                    </a:lnTo>
                    <a:cubicBezTo>
                      <a:pt x="891" y="0"/>
                      <a:pt x="893" y="0"/>
                      <a:pt x="896" y="0"/>
                    </a:cubicBezTo>
                    <a:close/>
                    <a:moveTo>
                      <a:pt x="888" y="0"/>
                    </a:moveTo>
                    <a:lnTo>
                      <a:pt x="888" y="0"/>
                    </a:lnTo>
                    <a:cubicBezTo>
                      <a:pt x="588" y="0"/>
                      <a:pt x="301" y="15"/>
                      <a:pt x="1" y="58"/>
                    </a:cubicBezTo>
                    <a:cubicBezTo>
                      <a:pt x="3393" y="491"/>
                      <a:pt x="5934" y="3378"/>
                      <a:pt x="5934" y="6799"/>
                    </a:cubicBezTo>
                    <a:cubicBezTo>
                      <a:pt x="5934" y="10220"/>
                      <a:pt x="3393" y="13107"/>
                      <a:pt x="1" y="13555"/>
                    </a:cubicBezTo>
                    <a:cubicBezTo>
                      <a:pt x="299" y="13594"/>
                      <a:pt x="595" y="13612"/>
                      <a:pt x="887" y="13612"/>
                    </a:cubicBezTo>
                    <a:cubicBezTo>
                      <a:pt x="4418" y="13612"/>
                      <a:pt x="7441" y="10873"/>
                      <a:pt x="7680" y="7247"/>
                    </a:cubicBezTo>
                    <a:cubicBezTo>
                      <a:pt x="7926" y="3323"/>
                      <a:pt x="4826" y="4"/>
                      <a:pt x="888" y="0"/>
                    </a:cubicBezTo>
                    <a:close/>
                  </a:path>
                </a:pathLst>
              </a:custGeom>
              <a:solidFill>
                <a:srgbClr val="7B7BBE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8" name="Google Shape;568;p46"/>
            <p:cNvGrpSpPr/>
            <p:nvPr/>
          </p:nvGrpSpPr>
          <p:grpSpPr>
            <a:xfrm>
              <a:off x="3394986" y="3894612"/>
              <a:ext cx="202339" cy="202323"/>
              <a:chOff x="935197" y="1793977"/>
              <a:chExt cx="256451" cy="256430"/>
            </a:xfrm>
          </p:grpSpPr>
          <p:sp>
            <p:nvSpPr>
              <p:cNvPr id="569" name="Google Shape;569;p46"/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46"/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1" name="Google Shape;571;p46"/>
          <p:cNvGrpSpPr/>
          <p:nvPr/>
        </p:nvGrpSpPr>
        <p:grpSpPr>
          <a:xfrm>
            <a:off x="811081" y="2951920"/>
            <a:ext cx="362920" cy="356865"/>
            <a:chOff x="2866317" y="3817357"/>
            <a:chExt cx="362920" cy="356865"/>
          </a:xfrm>
        </p:grpSpPr>
        <p:sp>
          <p:nvSpPr>
            <p:cNvPr id="572" name="Google Shape;572;p46"/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6"/>
            <p:cNvSpPr/>
            <p:nvPr/>
          </p:nvSpPr>
          <p:spPr>
            <a:xfrm>
              <a:off x="3021457" y="3817357"/>
              <a:ext cx="207780" cy="356576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rgbClr val="7B7BBE">
                <a:alpha val="303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6"/>
            <p:cNvSpPr/>
            <p:nvPr/>
          </p:nvSpPr>
          <p:spPr>
            <a:xfrm>
              <a:off x="2928367" y="3894561"/>
              <a:ext cx="194175" cy="27966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" name="Google Shape;575;p46"/>
          <p:cNvGrpSpPr/>
          <p:nvPr/>
        </p:nvGrpSpPr>
        <p:grpSpPr>
          <a:xfrm>
            <a:off x="4989625" y="1353025"/>
            <a:ext cx="464950" cy="1602175"/>
            <a:chOff x="4989625" y="1353025"/>
            <a:chExt cx="464950" cy="1602175"/>
          </a:xfrm>
        </p:grpSpPr>
        <p:sp>
          <p:nvSpPr>
            <p:cNvPr id="576" name="Google Shape;576;p46"/>
            <p:cNvSpPr/>
            <p:nvPr/>
          </p:nvSpPr>
          <p:spPr>
            <a:xfrm rot="10800000">
              <a:off x="5227775" y="135302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77" name="Google Shape;577;p46"/>
            <p:cNvSpPr/>
            <p:nvPr/>
          </p:nvSpPr>
          <p:spPr>
            <a:xfrm rot="10800000">
              <a:off x="4989625" y="28037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ig Data Analytics Project Proposal by Slidesgo">
  <a:themeElements>
    <a:clrScheme name="Simple Light">
      <a:dk1>
        <a:srgbClr val="1F0F61"/>
      </a:dk1>
      <a:lt1>
        <a:srgbClr val="FCF1FC"/>
      </a:lt1>
      <a:dk2>
        <a:srgbClr val="EEE9F5"/>
      </a:dk2>
      <a:lt2>
        <a:srgbClr val="EEC0FB"/>
      </a:lt2>
      <a:accent1>
        <a:srgbClr val="6B5DA3"/>
      </a:accent1>
      <a:accent2>
        <a:srgbClr val="7B7BB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0F6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1771</Words>
  <Application>Microsoft Office PowerPoint</Application>
  <PresentationFormat>On-screen Show (16:9)</PresentationFormat>
  <Paragraphs>147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Libre Franklin</vt:lpstr>
      <vt:lpstr>Sofia Sans</vt:lpstr>
      <vt:lpstr>Raleway</vt:lpstr>
      <vt:lpstr>Anaheim</vt:lpstr>
      <vt:lpstr>Sofia Sans SemiBold</vt:lpstr>
      <vt:lpstr>Big Data Analytics Project Proposal by Slidesgo</vt:lpstr>
      <vt:lpstr>Big Data Analytics  </vt:lpstr>
      <vt:lpstr>Table of contents</vt:lpstr>
      <vt:lpstr>Objectives of the project</vt:lpstr>
      <vt:lpstr>Objectives</vt:lpstr>
      <vt:lpstr>Methodologyof the project</vt:lpstr>
      <vt:lpstr>Key Techniques Used</vt:lpstr>
      <vt:lpstr>System Architectureof the project</vt:lpstr>
      <vt:lpstr>Architecture-Flow of data</vt:lpstr>
      <vt:lpstr>Architecture-Flow of data</vt:lpstr>
      <vt:lpstr>Result of the project</vt:lpstr>
      <vt:lpstr>PowerPoint Presentation</vt:lpstr>
      <vt:lpstr>PowerPoint Presentation</vt:lpstr>
      <vt:lpstr>PowerPoint Presentation</vt:lpstr>
      <vt:lpstr>PowerPoint Presentation</vt:lpstr>
      <vt:lpstr>Conclusion of the project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Hai Nguyen (Student)</cp:lastModifiedBy>
  <cp:revision>5</cp:revision>
  <dcterms:modified xsi:type="dcterms:W3CDTF">2025-05-10T02:11:02Z</dcterms:modified>
</cp:coreProperties>
</file>